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6" r:id="rId12"/>
    <p:sldId id="267" r:id="rId13"/>
    <p:sldId id="270" r:id="rId16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433"/>
                </a:solidFill>
                <a:latin typeface="Calibri"/>
              </a:rPr>
              <a:t>Trips by hour and vehicle (MapReduce Job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Bike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683</c:v>
                </c:pt>
                <c:pt idx="1">
                  <c:v>437</c:v>
                </c:pt>
                <c:pt idx="2">
                  <c:v>270</c:v>
                </c:pt>
                <c:pt idx="3">
                  <c:v>219</c:v>
                </c:pt>
                <c:pt idx="4">
                  <c:v>268</c:v>
                </c:pt>
                <c:pt idx="5">
                  <c:v>568</c:v>
                </c:pt>
                <c:pt idx="6">
                  <c:v>1860</c:v>
                </c:pt>
                <c:pt idx="7">
                  <c:v>3168</c:v>
                </c:pt>
                <c:pt idx="8">
                  <c:v>4762</c:v>
                </c:pt>
                <c:pt idx="9">
                  <c:v>5915</c:v>
                </c:pt>
                <c:pt idx="10">
                  <c:v>5486</c:v>
                </c:pt>
                <c:pt idx="11">
                  <c:v>4760</c:v>
                </c:pt>
                <c:pt idx="12">
                  <c:v>4252</c:v>
                </c:pt>
                <c:pt idx="13">
                  <c:v>4083</c:v>
                </c:pt>
                <c:pt idx="14">
                  <c:v>3878</c:v>
                </c:pt>
                <c:pt idx="15">
                  <c:v>4104</c:v>
                </c:pt>
                <c:pt idx="16">
                  <c:v>4394</c:v>
                </c:pt>
                <c:pt idx="17">
                  <c:v>5346</c:v>
                </c:pt>
                <c:pt idx="18">
                  <c:v>6387</c:v>
                </c:pt>
                <c:pt idx="19">
                  <c:v>6957</c:v>
                </c:pt>
                <c:pt idx="20">
                  <c:v>6165</c:v>
                </c:pt>
                <c:pt idx="21">
                  <c:v>4766</c:v>
                </c:pt>
                <c:pt idx="22">
                  <c:v>2202</c:v>
                </c:pt>
                <c:pt idx="23">
                  <c:v>1328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</c:v>
                </c:pt>
              </c:strCache>
            </c:strRef>
          </c:tx>
          <c:spPr>
            <a:solidFill>
              <a:srgbClr val="E868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919</c:v>
                </c:pt>
                <c:pt idx="1">
                  <c:v>635</c:v>
                </c:pt>
                <c:pt idx="2">
                  <c:v>406</c:v>
                </c:pt>
                <c:pt idx="3">
                  <c:v>312</c:v>
                </c:pt>
                <c:pt idx="4">
                  <c:v>356</c:v>
                </c:pt>
                <c:pt idx="5">
                  <c:v>882</c:v>
                </c:pt>
                <c:pt idx="6">
                  <c:v>1865</c:v>
                </c:pt>
                <c:pt idx="7">
                  <c:v>3250</c:v>
                </c:pt>
                <c:pt idx="8">
                  <c:v>4915</c:v>
                </c:pt>
                <c:pt idx="9">
                  <c:v>5909</c:v>
                </c:pt>
                <c:pt idx="10">
                  <c:v>5820</c:v>
                </c:pt>
                <c:pt idx="11">
                  <c:v>4787</c:v>
                </c:pt>
                <c:pt idx="12">
                  <c:v>4198</c:v>
                </c:pt>
                <c:pt idx="13">
                  <c:v>4076</c:v>
                </c:pt>
                <c:pt idx="14">
                  <c:v>3821</c:v>
                </c:pt>
                <c:pt idx="15">
                  <c:v>3995</c:v>
                </c:pt>
                <c:pt idx="16">
                  <c:v>4454</c:v>
                </c:pt>
                <c:pt idx="17">
                  <c:v>5542</c:v>
                </c:pt>
                <c:pt idx="18">
                  <c:v>6548</c:v>
                </c:pt>
                <c:pt idx="19">
                  <c:v>7094</c:v>
                </c:pt>
                <c:pt idx="20">
                  <c:v>6278</c:v>
                </c:pt>
                <c:pt idx="21">
                  <c:v>4736</c:v>
                </c:pt>
                <c:pt idx="22">
                  <c:v>3300</c:v>
                </c:pt>
                <c:pt idx="23">
                  <c:v>1964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Cab</c:v>
                </c:pt>
              </c:strCache>
            </c:strRef>
          </c:tx>
          <c:spPr>
            <a:solidFill>
              <a:srgbClr val="1BAA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1189</c:v>
                </c:pt>
                <c:pt idx="1">
                  <c:v>756</c:v>
                </c:pt>
                <c:pt idx="2">
                  <c:v>458</c:v>
                </c:pt>
                <c:pt idx="3">
                  <c:v>345</c:v>
                </c:pt>
                <c:pt idx="4">
                  <c:v>449</c:v>
                </c:pt>
                <c:pt idx="5">
                  <c:v>1100</c:v>
                </c:pt>
                <c:pt idx="6">
                  <c:v>1689</c:v>
                </c:pt>
                <c:pt idx="7">
                  <c:v>2829</c:v>
                </c:pt>
                <c:pt idx="8">
                  <c:v>4386</c:v>
                </c:pt>
                <c:pt idx="9">
                  <c:v>5320</c:v>
                </c:pt>
                <c:pt idx="10">
                  <c:v>4940</c:v>
                </c:pt>
                <c:pt idx="11">
                  <c:v>4161</c:v>
                </c:pt>
                <c:pt idx="12">
                  <c:v>3735</c:v>
                </c:pt>
                <c:pt idx="13">
                  <c:v>3553</c:v>
                </c:pt>
                <c:pt idx="14">
                  <c:v>3355</c:v>
                </c:pt>
                <c:pt idx="15">
                  <c:v>3558</c:v>
                </c:pt>
                <c:pt idx="16">
                  <c:v>4030</c:v>
                </c:pt>
                <c:pt idx="17">
                  <c:v>5030</c:v>
                </c:pt>
                <c:pt idx="18">
                  <c:v>6139</c:v>
                </c:pt>
                <c:pt idx="19">
                  <c:v>6266</c:v>
                </c:pt>
                <c:pt idx="20">
                  <c:v>5753</c:v>
                </c:pt>
                <c:pt idx="21">
                  <c:v>4298</c:v>
                </c:pt>
                <c:pt idx="22">
                  <c:v>3912</c:v>
                </c:pt>
                <c:pt idx="23">
                  <c:v>2380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433"/>
                </a:solidFill>
                <a:latin typeface="Calibri"/>
              </a:rPr>
              <a:t>Traffic factor by hour (1.0 = free flow)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4A3AA8"/>
            </a:solidFill>
            <a:ln w="25400" cap="flat">
              <a:solidFill>
                <a:srgbClr val="4A3A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3AA8"/>
              </a:solidFill>
              <a:ln w="9525" cap="flat">
                <a:solidFill>
                  <a:srgbClr val="4A3A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0.874</c:v>
                </c:pt>
                <c:pt idx="1">
                  <c:v>0.874</c:v>
                </c:pt>
                <c:pt idx="2">
                  <c:v>0.872</c:v>
                </c:pt>
                <c:pt idx="3">
                  <c:v>0.872</c:v>
                </c:pt>
                <c:pt idx="4">
                  <c:v>0.873</c:v>
                </c:pt>
                <c:pt idx="5">
                  <c:v>0.873</c:v>
                </c:pt>
                <c:pt idx="6">
                  <c:v>1.007</c:v>
                </c:pt>
                <c:pt idx="7">
                  <c:v>1.291</c:v>
                </c:pt>
                <c:pt idx="8">
                  <c:v>1.641</c:v>
                </c:pt>
                <c:pt idx="9">
                  <c:v>2.217</c:v>
                </c:pt>
                <c:pt idx="10">
                  <c:v>2.221</c:v>
                </c:pt>
                <c:pt idx="11">
                  <c:v>1.663</c:v>
                </c:pt>
                <c:pt idx="12">
                  <c:v>1.398</c:v>
                </c:pt>
                <c:pt idx="13">
                  <c:v>1.304</c:v>
                </c:pt>
                <c:pt idx="14">
                  <c:v>1.303</c:v>
                </c:pt>
                <c:pt idx="15">
                  <c:v>1.302</c:v>
                </c:pt>
                <c:pt idx="16">
                  <c:v>1.432</c:v>
                </c:pt>
                <c:pt idx="17">
                  <c:v>1.743</c:v>
                </c:pt>
                <c:pt idx="18">
                  <c:v>2.307</c:v>
                </c:pt>
                <c:pt idx="19">
                  <c:v>2.568</c:v>
                </c:pt>
                <c:pt idx="20">
                  <c:v>2.31</c:v>
                </c:pt>
                <c:pt idx="21">
                  <c:v>1.58</c:v>
                </c:pt>
                <c:pt idx="22">
                  <c:v>0.872</c:v>
                </c:pt>
                <c:pt idx="23">
                  <c:v>0.872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rgbClr val="D45D9C"/>
            </a:solidFill>
            <a:ln w="25400" cap="flat">
              <a:solidFill>
                <a:srgbClr val="D45D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45D9C"/>
              </a:solidFill>
              <a:ln w="9525" cap="flat">
                <a:solidFill>
                  <a:srgbClr val="D45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0.862</c:v>
                </c:pt>
                <c:pt idx="1">
                  <c:v>0.864</c:v>
                </c:pt>
                <c:pt idx="2">
                  <c:v>0.862</c:v>
                </c:pt>
                <c:pt idx="3">
                  <c:v>0.861</c:v>
                </c:pt>
                <c:pt idx="4">
                  <c:v>0.858</c:v>
                </c:pt>
                <c:pt idx="5">
                  <c:v>0.858</c:v>
                </c:pt>
                <c:pt idx="6">
                  <c:v>0.983</c:v>
                </c:pt>
                <c:pt idx="7">
                  <c:v>1.17</c:v>
                </c:pt>
                <c:pt idx="8">
                  <c:v>1.376</c:v>
                </c:pt>
                <c:pt idx="9">
                  <c:v>1.72</c:v>
                </c:pt>
                <c:pt idx="10">
                  <c:v>1.719</c:v>
                </c:pt>
                <c:pt idx="11">
                  <c:v>1.386</c:v>
                </c:pt>
                <c:pt idx="12">
                  <c:v>1.232</c:v>
                </c:pt>
                <c:pt idx="13">
                  <c:v>1.176</c:v>
                </c:pt>
                <c:pt idx="14">
                  <c:v>1.177</c:v>
                </c:pt>
                <c:pt idx="15">
                  <c:v>1.178</c:v>
                </c:pt>
                <c:pt idx="16">
                  <c:v>1.254</c:v>
                </c:pt>
                <c:pt idx="17">
                  <c:v>1.437</c:v>
                </c:pt>
                <c:pt idx="18">
                  <c:v>1.764</c:v>
                </c:pt>
                <c:pt idx="19">
                  <c:v>1.917</c:v>
                </c:pt>
                <c:pt idx="20">
                  <c:v>1.77</c:v>
                </c:pt>
                <c:pt idx="21">
                  <c:v>1.334</c:v>
                </c:pt>
                <c:pt idx="22">
                  <c:v>0.861</c:v>
                </c:pt>
                <c:pt idx="23">
                  <c:v>0.862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5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Bengaluru multi-modal mobility analytics: synthetic trip data for 10 hubs and 3 vehicle types, processed with 4 Hadoop-Streaming-style MapReduce jobs and 2 Random Forest models, served through a role-based Flask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audiences: users (which ride), drivers (where and when to work), admins/planners (congestion and system health).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data is synthetic. The generator is pipeline/00_generate_bengaluru_data.py and every rule lives in pipeline/mobility_model.py, which the backend also uses, so fares are consistent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0 to 4 are offline batch stages that write CSV, joblib and JSON files. The Flask app only loads those artifacts, so the dashboard starts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files run unchanged with: hadoop jar hadoop-streaming.jar -mapper mapper.py -reducer reducer.py. Job 3 only maps peak-hour, inter-zone trips (64,762 records).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outputs/mapreduce/job1_modal_demand_by_hour.csv. Demand is lowest 02:00-04:00.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clusters: Koramangala / HSR Layout / Electronic City (the Silk Board junction area) and Majestic &lt;-&gt; MG Road in the old city centre. Delay = average minutes above free-flow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Bikes hold speed best in peak traffic but lose the most in rain. Cabs are 32% of trips but about 61% of fare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Per-vehicle MAE: bike 1.875, auto 2.767, cab 4.383 min. Honest caveat: the physics formula alone scores MAE 2.99 min, because the synthetic data was generated from it. Feature importance: distance 42%, traffic factor 34%, hour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python backend\app.py then open http://127.0.0.1:5000. Each card has an expandable fare breakdown (base, distance, delay, night, surge).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maps to a chart in the dashboard: Job 1 (supply), Job 3 (corridors), rain impact (modes), earning window (driver pay), fare comparison (night auto).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Urban Mobility Analytics  •  CA3 Activity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05840"/>
            <a:ext cx="2926080" cy="2926080"/>
          </a:xfrm>
          <a:prstGeom prst="ellipse">
            <a:avLst/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566160"/>
            <a:ext cx="2194560" cy="2194560"/>
          </a:xfrm>
          <a:prstGeom prst="ellipse">
            <a:avLst/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</a:rPr>
              <a:t>BIG DATA ANALYTICS — CA3 ACTIVITY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Urban Mobility &amp; Transit Analytics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Multi-modal (Bike · Auto · Cab) demand, congestion, fare and ETA analytics with MapReduce and 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247,951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Trips analysed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87752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7752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MapReduce jobs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81144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81144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ML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74536" y="2926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74536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City hubs</a:t>
            </a:r>
            <a:endParaRPr lang="en-US" sz="1100" dirty="0"/>
          </a:p>
        </p:txBody>
      </p:sp>
      <p:sp>
        <p:nvSpPr>
          <p:cNvPr id="19" name="Team Left"/>
          <p:cNvSpPr txBox="1"/>
          <p:nvPr/>
        </p:nvSpPr>
        <p:spPr>
          <a:xfrm>
            <a:off x="594360" y="40233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spc="300" dirty="0">
                <a:solidFill>
                  <a:srgbClr val="F5A623"/>
                </a:solidFill>
              </a:rPr>
              <a:t>TEAM MEMBERS</a:t>
            </a:r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Rupesh Singh</a:t>
            </a:r>
            <a:r>
              <a:rPr lang="en-US" sz="1200" dirty="0">
                <a:solidFill>
                  <a:srgbClr val="C9D3E3"/>
                </a:solidFill>
              </a:rPr>
              <a:t>   USN: 25MCAR0017</a:t>
            </a:r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Anoon MR</a:t>
            </a:r>
            <a:r>
              <a:rPr lang="en-US" sz="1200" dirty="0">
                <a:solidFill>
                  <a:srgbClr val="C9D3E3"/>
                </a:solidFill>
              </a:rPr>
              <a:t>   USN: 25MCAR0179</a:t>
            </a:r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Pankaj Singh</a:t>
            </a:r>
            <a:r>
              <a:rPr lang="en-US" sz="1200" dirty="0">
                <a:solidFill>
                  <a:srgbClr val="C9D3E3"/>
                </a:solidFill>
              </a:rPr>
              <a:t>   USN: 25MCAR0223</a:t>
            </a:r>
          </a:p>
        </p:txBody>
      </p:sp>
      <p:sp>
        <p:nvSpPr>
          <p:cNvPr id="20" name="Team Right"/>
          <p:cNvSpPr txBox="1"/>
          <p:nvPr/>
        </p:nvSpPr>
        <p:spPr>
          <a:xfrm>
            <a:off x="4663440" y="40233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spc="300" dirty="0">
                <a:solidFill>
                  <a:srgbClr val="F5A623"/>
                </a:solidFill>
              </a:rPr>
              <a:t>MCA AIML — III SEMESTER</a:t>
            </a:r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Dhanya Varsha</a:t>
            </a:r>
            <a:r>
              <a:rPr lang="en-US" sz="1200" dirty="0">
                <a:solidFill>
                  <a:srgbClr val="C9D3E3"/>
                </a:solidFill>
              </a:rPr>
              <a:t>   USN: 25MCAR0201</a:t>
            </a:r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Chiranth PG</a:t>
            </a:r>
            <a:r>
              <a:rPr lang="en-US" sz="1200" dirty="0">
                <a:solidFill>
                  <a:srgbClr val="C9D3E3"/>
                </a:solidFill>
              </a:rPr>
              <a:t>   USN: 25MCAR0169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Bengaluru riders choose between bike taxis, autos and cabs on roads that slow to a crawl at peak. Riders, drivers and city planners each need different answers from the same trip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When and where is demand highest?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By hour, hub and vehicle type.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Which ride should I take?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ETA and fare for bike vs auto vs cab.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Where are the choke points?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Slowest peak-hour corridors.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3832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How do peaks and rain change trips?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Speed, delay and surge.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33832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071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90448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Where should drivers wait?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10712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Fare earned per minute, by hour and corridor.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33832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9632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Can ML predict ETA and demand?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Regression for ETA, classification for surge.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synthetic Bengaluru trips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trip-level dataset exists for Bengaluru bike / auto / cab rides, so trips are generated from documented city rules (seed 42, fully reproducible).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hubs with real coordinates, from Koramangala and Whitefield to Kempegowda Airport and Majestic.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peaks 08:30–11:30 (1.5–2.2×) and 17:30–21:30 (1.6–2.4×); free-flow at night; rain adds 15%.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cards: Bike ₹20 + ₹8/km, Auto ₹30 + ₹15/km, Cab ₹60 + ₹18–22/km, plus delay charge, night surcharge and surge.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– 30 Jun 2025 (181 days, 25 rainy). About 1.5% dirty rows were injected on purpose for the cleaning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23560" y="12344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250,750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Raw rows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2344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247,951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After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8346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Raw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283464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Columns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Generate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synthetic trips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59636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59636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6212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Clean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engineer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65476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62072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MapReduce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 jobs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4508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64508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101084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2 models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70348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66944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66944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Precompute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role data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69380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9380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505956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Flask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JSON API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75220" y="2103120"/>
            <a:ext cx="196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71816" y="160020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71816" y="1764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5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708392" y="2240280"/>
            <a:ext cx="932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3"/>
                </a:solidFill>
              </a:rPr>
              <a:t>Role-based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pipeline/run_all.py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runs steps 0–4 in about 10 seconds. </a:t>
            </a:r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backend/app.py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serves /api/dashboard?role=, /api/predict/trip and /api/predict/demand.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HADOOP-STREAMING COMPATIBLE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MapReduce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1 · Modal demand by hour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(hour | vehicle) →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sum → 72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2 · Duration &amp; fare by zone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(zone | vehicle) → minutes, fare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count, averages, total → 30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3 · Congestion corridors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peak, inter-zone only: (pickup | drop) → km, min, delay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speed, delay share, status → 90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4 · Demand dataset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(date | hour | day | zone | rain) → 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F00"/>
                </a:solidFill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count → 38,158 rows → feeds Model 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Each job is a real mapper.py / reducer.py pair run as Map → Shuffle/Sort → Reduce subprocesses, the contract Hadoop Streaming uses. 247,951 records through all 4 jobs in 1.5 s locally.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ANALYTICS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peaks at 09:00 and 19:00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23444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371600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 19:00, about 20,000 trips over the period.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trips fall in the two peak windows.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share is balanced: bike 33%, auto 35%, cab 32%.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carry 76% of trips; Wednesday is busiest.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CONGESTION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Choke points: two corridor clusters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006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3"/>
                </a:solidFill>
              </a:rPr>
              <a:t>Slowest peak-hour corridors (MapReduce Job 3)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63040"/>
          <a:ext cx="38862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594360"/>
                <a:gridCol w="685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Koramangala → HSR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City → HSR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Majestic → MG 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HSR Layout → Koramangala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 Road → Majestic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Koramangala → Jayanagar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800600" y="37033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90 corridors: 21 Critical (&lt; 13.75 km/h), 46 Severe (&lt; 15), 23 Moderate. Peak traffic factor reaches 2.6× at 19:00 on weekdays.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MODES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vs auto vs cab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08176"/>
            <a:ext cx="237744" cy="23774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fare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054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/ 12%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trips / of revenue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→ 16.8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km/h, off-peak → peak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minutes per km in rain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408176"/>
            <a:ext cx="237744" cy="237744"/>
          </a:xfrm>
          <a:prstGeom prst="ellipse">
            <a:avLst/>
          </a:prstGeom>
          <a:solidFill>
            <a:srgbClr val="E8683A"/>
          </a:solidFill>
          <a:ln w="12700">
            <a:solidFill>
              <a:srgbClr val="E868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fare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25054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 / 28%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trips / of revenue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 → 12.8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447288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km/h, off-peak → peak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+29%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minutes per km in rain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1408176"/>
            <a:ext cx="237744" cy="237744"/>
          </a:xfrm>
          <a:prstGeom prst="ellipse">
            <a:avLst/>
          </a:prstGeom>
          <a:solidFill>
            <a:srgbClr val="1BAA7A"/>
          </a:solidFill>
          <a:ln w="12700">
            <a:solidFill>
              <a:srgbClr val="1BAA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₹408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average fare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25054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 / 61%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of trips / of revenue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31638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 → 13.1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km/h, off-peak → peak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+31%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minutes per km in rain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65F00"/>
                </a:solidFill>
              </a:rPr>
              <a:t>MODEL A — REGRESSION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duration (ETA)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</a:rPr>
              <a:t>Random Forest regressor · 80 trees, depth 12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5856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vehicle, distance, hour, day, traffic factor, 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actual ÷ formula ETA, so long trips still scale by vehicle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then computed from the ETA via the rate card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2.995 min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Mean absolute error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R² score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65F00"/>
                </a:solidFill>
              </a:rPr>
              <a:t>MODEL B — CLASSIFICATION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demand level → surge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</a:rPr>
              <a:t>Random Forest classifier · Low / Medium / High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25856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38,158 MapReduce Job 4 cells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hour, day, weekend, peak, zone, 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Tertile labels: Low ≤ 4, Medium ≤ 8, High &gt; 8 trips / hour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68.0%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Accuracy (random = 33%)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0.687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7"/>
                </a:solidFill>
              </a:rPr>
              <a:t>Weighted F1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— USER 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planner: compare all three rides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170432"/>
            <a:ext cx="8266176" cy="3004515"/>
          </a:xfrm>
          <a:prstGeom prst="rect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5" name="Image 0" descr="Trip planner comparing bike, auto and cab for Koramangala to Whitefield at 19: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96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Koramangala → Whitefield, Monday 19:00: bike 66 min / ₹297, auto 90 min / ₹571, cab 100 min / ₹897. ETA from Model A, surge from Model B, fares from the rate card.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6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188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Put supply where the peaks are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18872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Shift drivers to 09:00–10:00 and 18:00–20:00; Job 1 shows these hours carry the most trips.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56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Fix two corridor clusters first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85623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Koramangala / HSR / Electronic City (Silk Board area) and Majestic ↔ MG Road are the slowest, at 13.1–13.3 km/h.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5237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Recommend by context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523744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Bikes for short peak trips (16.8 km/h vs 13.1 for cabs); cabs in rain (bikes +47% min/km).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1912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Review peak-hour driver pay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319125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₹/trip-minute is lowest in jams; a higher delay rate would keep drivers on the road.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8587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Revisit the night auto surcharge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385876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At 1.5× an auto costs as much as a cab for 8 km+ trips after 22:00.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05840"/>
            <a:ext cx="2926080" cy="2926080"/>
          </a:xfrm>
          <a:prstGeom prst="ellipse">
            <a:avLst/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A complete Big Data pipeline — generation, cleaning, MapReduce, analytics and machine learning — processing 247,951 Bengaluru trips end-to-end in about 10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MapReduce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587752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Charts &amp; tables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81144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ML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74536" y="2514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33554"/>
          </a:solidFill>
          <a:ln w="12700">
            <a:solidFill>
              <a:srgbClr val="2335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74536" y="2578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74536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3"/>
                </a:solidFill>
              </a:rPr>
              <a:t>Role views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Bengaluru Urban Mobility &amp; Transit Analytics</dc:title>
  <dc:subject>CA3 Activity 2 - Big Data Analytics (25MCAAIE3042)</dc:subject>
  <dc:creator>PptxGenJS</dc:creator>
  <cp:lastModifiedBy>PptxGenJS</cp:lastModifiedBy>
  <cp:revision>1</cp:revision>
  <dcterms:created xsi:type="dcterms:W3CDTF">2026-10-23T15:55:28Z</dcterms:created>
  <dcterms:modified xsi:type="dcterms:W3CDTF">2026-10-23T15:55:28Z</dcterms:modified>
</cp:coreProperties>
</file>